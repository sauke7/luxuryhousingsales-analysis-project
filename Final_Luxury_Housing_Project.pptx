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EE9061-B37F-406B-93F0-BEC629130B6D}" v="6" dt="2026-01-17T07:50:57.0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Kammila" userId="5e3450e576ef3658" providerId="LiveId" clId="{D528A221-29E9-4B7D-83D4-BA9C48FA0630}"/>
    <pc:docChg chg="custSel addSld delSld modSld sldOrd">
      <pc:chgData name="Sai Kammila" userId="5e3450e576ef3658" providerId="LiveId" clId="{D528A221-29E9-4B7D-83D4-BA9C48FA0630}" dt="2026-01-17T07:54:02.478" v="89" actId="14100"/>
      <pc:docMkLst>
        <pc:docMk/>
      </pc:docMkLst>
      <pc:sldChg chg="modSp mod">
        <pc:chgData name="Sai Kammila" userId="5e3450e576ef3658" providerId="LiveId" clId="{D528A221-29E9-4B7D-83D4-BA9C48FA0630}" dt="2026-01-17T07:52:15.247" v="83" actId="20577"/>
        <pc:sldMkLst>
          <pc:docMk/>
          <pc:sldMk cId="0" sldId="256"/>
        </pc:sldMkLst>
        <pc:spChg chg="mod">
          <ac:chgData name="Sai Kammila" userId="5e3450e576ef3658" providerId="LiveId" clId="{D528A221-29E9-4B7D-83D4-BA9C48FA0630}" dt="2026-01-17T07:52:15.247" v="83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Sai Kammila" userId="5e3450e576ef3658" providerId="LiveId" clId="{D528A221-29E9-4B7D-83D4-BA9C48FA0630}" dt="2026-01-17T07:54:02.478" v="89" actId="14100"/>
        <pc:sldMkLst>
          <pc:docMk/>
          <pc:sldMk cId="0" sldId="267"/>
        </pc:sldMkLst>
        <pc:spChg chg="mod">
          <ac:chgData name="Sai Kammila" userId="5e3450e576ef3658" providerId="LiveId" clId="{D528A221-29E9-4B7D-83D4-BA9C48FA0630}" dt="2026-01-17T07:53:55.107" v="87" actId="255"/>
          <ac:spMkLst>
            <pc:docMk/>
            <pc:sldMk cId="0" sldId="267"/>
            <ac:spMk id="3" creationId="{00000000-0000-0000-0000-000000000000}"/>
          </ac:spMkLst>
        </pc:spChg>
        <pc:picChg chg="mod">
          <ac:chgData name="Sai Kammila" userId="5e3450e576ef3658" providerId="LiveId" clId="{D528A221-29E9-4B7D-83D4-BA9C48FA0630}" dt="2026-01-17T07:54:02.478" v="89" actId="14100"/>
          <ac:picMkLst>
            <pc:docMk/>
            <pc:sldMk cId="0" sldId="267"/>
            <ac:picMk id="4" creationId="{00000000-0000-0000-0000-000000000000}"/>
          </ac:picMkLst>
        </pc:picChg>
      </pc:sldChg>
      <pc:sldChg chg="modSp mod">
        <pc:chgData name="Sai Kammila" userId="5e3450e576ef3658" providerId="LiveId" clId="{D528A221-29E9-4B7D-83D4-BA9C48FA0630}" dt="2026-01-17T07:43:11.578" v="5" actId="1076"/>
        <pc:sldMkLst>
          <pc:docMk/>
          <pc:sldMk cId="0" sldId="268"/>
        </pc:sldMkLst>
        <pc:spChg chg="mod">
          <ac:chgData name="Sai Kammila" userId="5e3450e576ef3658" providerId="LiveId" clId="{D528A221-29E9-4B7D-83D4-BA9C48FA0630}" dt="2026-01-17T07:43:09.941" v="4" actId="1076"/>
          <ac:spMkLst>
            <pc:docMk/>
            <pc:sldMk cId="0" sldId="268"/>
            <ac:spMk id="3" creationId="{00000000-0000-0000-0000-000000000000}"/>
          </ac:spMkLst>
        </pc:spChg>
        <pc:picChg chg="mod">
          <ac:chgData name="Sai Kammila" userId="5e3450e576ef3658" providerId="LiveId" clId="{D528A221-29E9-4B7D-83D4-BA9C48FA0630}" dt="2026-01-17T07:43:11.578" v="5" actId="1076"/>
          <ac:picMkLst>
            <pc:docMk/>
            <pc:sldMk cId="0" sldId="268"/>
            <ac:picMk id="4" creationId="{00000000-0000-0000-0000-000000000000}"/>
          </ac:picMkLst>
        </pc:picChg>
      </pc:sldChg>
      <pc:sldChg chg="modSp mod">
        <pc:chgData name="Sai Kammila" userId="5e3450e576ef3658" providerId="LiveId" clId="{D528A221-29E9-4B7D-83D4-BA9C48FA0630}" dt="2026-01-17T07:43:05.572" v="3" actId="1076"/>
        <pc:sldMkLst>
          <pc:docMk/>
          <pc:sldMk cId="0" sldId="269"/>
        </pc:sldMkLst>
        <pc:spChg chg="mod">
          <ac:chgData name="Sai Kammila" userId="5e3450e576ef3658" providerId="LiveId" clId="{D528A221-29E9-4B7D-83D4-BA9C48FA0630}" dt="2026-01-17T07:43:05.572" v="3" actId="1076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Sai Kammila" userId="5e3450e576ef3658" providerId="LiveId" clId="{D528A221-29E9-4B7D-83D4-BA9C48FA0630}" dt="2026-01-17T07:43:30.016" v="12" actId="20577"/>
        <pc:sldMkLst>
          <pc:docMk/>
          <pc:sldMk cId="0" sldId="270"/>
        </pc:sldMkLst>
        <pc:spChg chg="mod">
          <ac:chgData name="Sai Kammila" userId="5e3450e576ef3658" providerId="LiveId" clId="{D528A221-29E9-4B7D-83D4-BA9C48FA0630}" dt="2026-01-17T07:43:30.016" v="12" actId="20577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Sai Kammila" userId="5e3450e576ef3658" providerId="LiveId" clId="{D528A221-29E9-4B7D-83D4-BA9C48FA0630}" dt="2026-01-17T07:43:38.620" v="13" actId="12"/>
        <pc:sldMkLst>
          <pc:docMk/>
          <pc:sldMk cId="0" sldId="271"/>
        </pc:sldMkLst>
        <pc:spChg chg="mod">
          <ac:chgData name="Sai Kammila" userId="5e3450e576ef3658" providerId="LiveId" clId="{D528A221-29E9-4B7D-83D4-BA9C48FA0630}" dt="2026-01-17T07:43:38.620" v="13" actId="12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Sai Kammila" userId="5e3450e576ef3658" providerId="LiveId" clId="{D528A221-29E9-4B7D-83D4-BA9C48FA0630}" dt="2026-01-17T07:43:41.636" v="14" actId="12"/>
        <pc:sldMkLst>
          <pc:docMk/>
          <pc:sldMk cId="0" sldId="272"/>
        </pc:sldMkLst>
        <pc:spChg chg="mod">
          <ac:chgData name="Sai Kammila" userId="5e3450e576ef3658" providerId="LiveId" clId="{D528A221-29E9-4B7D-83D4-BA9C48FA0630}" dt="2026-01-17T07:43:41.636" v="14" actId="12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Sai Kammila" userId="5e3450e576ef3658" providerId="LiveId" clId="{D528A221-29E9-4B7D-83D4-BA9C48FA0630}" dt="2026-01-17T07:43:44.542" v="15" actId="12"/>
        <pc:sldMkLst>
          <pc:docMk/>
          <pc:sldMk cId="0" sldId="273"/>
        </pc:sldMkLst>
        <pc:spChg chg="mod">
          <ac:chgData name="Sai Kammila" userId="5e3450e576ef3658" providerId="LiveId" clId="{D528A221-29E9-4B7D-83D4-BA9C48FA0630}" dt="2026-01-17T07:43:44.542" v="15" actId="12"/>
          <ac:spMkLst>
            <pc:docMk/>
            <pc:sldMk cId="0" sldId="273"/>
            <ac:spMk id="3" creationId="{00000000-0000-0000-0000-000000000000}"/>
          </ac:spMkLst>
        </pc:spChg>
      </pc:sldChg>
      <pc:sldChg chg="modSp new mod ord">
        <pc:chgData name="Sai Kammila" userId="5e3450e576ef3658" providerId="LiveId" clId="{D528A221-29E9-4B7D-83D4-BA9C48FA0630}" dt="2026-01-17T07:52:29.887" v="86" actId="207"/>
        <pc:sldMkLst>
          <pc:docMk/>
          <pc:sldMk cId="2499740630" sldId="275"/>
        </pc:sldMkLst>
        <pc:spChg chg="mod">
          <ac:chgData name="Sai Kammila" userId="5e3450e576ef3658" providerId="LiveId" clId="{D528A221-29E9-4B7D-83D4-BA9C48FA0630}" dt="2026-01-17T07:49:55.736" v="57" actId="14100"/>
          <ac:spMkLst>
            <pc:docMk/>
            <pc:sldMk cId="2499740630" sldId="275"/>
            <ac:spMk id="2" creationId="{0E0A0B79-3C34-35AA-281D-B58CCC0748E3}"/>
          </ac:spMkLst>
        </pc:spChg>
        <pc:spChg chg="mod">
          <ac:chgData name="Sai Kammila" userId="5e3450e576ef3658" providerId="LiveId" clId="{D528A221-29E9-4B7D-83D4-BA9C48FA0630}" dt="2026-01-17T07:52:29.887" v="86" actId="207"/>
          <ac:spMkLst>
            <pc:docMk/>
            <pc:sldMk cId="2499740630" sldId="275"/>
            <ac:spMk id="3" creationId="{FA5E5491-F251-B51E-2C66-39FCD9444F86}"/>
          </ac:spMkLst>
        </pc:spChg>
      </pc:sldChg>
      <pc:sldChg chg="modSp new del mod">
        <pc:chgData name="Sai Kammila" userId="5e3450e576ef3658" providerId="LiveId" clId="{D528A221-29E9-4B7D-83D4-BA9C48FA0630}" dt="2026-01-17T07:51:51.749" v="77" actId="47"/>
        <pc:sldMkLst>
          <pc:docMk/>
          <pc:sldMk cId="2218373761" sldId="276"/>
        </pc:sldMkLst>
        <pc:spChg chg="mod">
          <ac:chgData name="Sai Kammila" userId="5e3450e576ef3658" providerId="LiveId" clId="{D528A221-29E9-4B7D-83D4-BA9C48FA0630}" dt="2026-01-17T07:51:28.172" v="75" actId="14100"/>
          <ac:spMkLst>
            <pc:docMk/>
            <pc:sldMk cId="2218373761" sldId="276"/>
            <ac:spMk id="2" creationId="{0007C73F-0393-B99E-FB13-C6E70597A56B}"/>
          </ac:spMkLst>
        </pc:spChg>
        <pc:spChg chg="mod">
          <ac:chgData name="Sai Kammila" userId="5e3450e576ef3658" providerId="LiveId" clId="{D528A221-29E9-4B7D-83D4-BA9C48FA0630}" dt="2026-01-17T07:51:22.855" v="74" actId="27636"/>
          <ac:spMkLst>
            <pc:docMk/>
            <pc:sldMk cId="2218373761" sldId="276"/>
            <ac:spMk id="3" creationId="{9148BE11-D9CE-78A1-60B6-5166B18045F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0B79-3C34-35AA-281D-B58CCC074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80283"/>
            <a:ext cx="7772400" cy="1470025"/>
          </a:xfrm>
        </p:spPr>
        <p:txBody>
          <a:bodyPr/>
          <a:lstStyle/>
          <a:p>
            <a:r>
              <a:rPr lang="en-US" dirty="0"/>
              <a:t>Luxury Housing Market Analysis – Bangalore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5E5491-F251-B51E-2C66-39FCD9444F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778" y="2151727"/>
            <a:ext cx="8209937" cy="4129345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Bangalore’s luxury housing market is analyzed using Python, SQL, and Power BI to understand pricing, buyer behavior, and micro-market demand.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project converts raw data into meaningful insights for developers and investors.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740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Domain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Luxury real estate market focuses on high-end residential properties.</a:t>
            </a:r>
          </a:p>
          <a:p>
            <a:r>
              <a:rPr dirty="0"/>
              <a:t>It involves analysis of buyer behavior, pricing, and geographic demand.</a:t>
            </a:r>
          </a:p>
          <a:p>
            <a:r>
              <a:rPr dirty="0"/>
              <a:t>Market intelligence helps developers optimize strategy and sales.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luxury housing data for Bangalore.</a:t>
            </a:r>
          </a:p>
          <a:p>
            <a:r>
              <a:t>It provides insights using Python, SQL, and Power BI.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clean, transform, and analyze sales data for decision-making.</a:t>
            </a:r>
          </a:p>
          <a:p>
            <a:r>
              <a:t>To identify market trends, buyer patterns, and developer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data was extracted from CSV, loaded into Python for transformation,</a:t>
            </a:r>
          </a:p>
          <a:p>
            <a:r>
              <a:t>and loaded into MySQL for validation and downstream analytics.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Cleaned data was transferred from processing layer into SQL tables.</a:t>
            </a:r>
          </a:p>
          <a:p>
            <a:r>
              <a:t>SQL enabled structured querying and validation before Power BI consumption.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revealed pricing ranges, buyer types, conversion rates, and micro-market trends.</a:t>
            </a:r>
          </a:p>
          <a:p>
            <a:r>
              <a:t>It also highlighted data gaps, outliers, and variable relationships.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Derived booking conversion rates, total ticket value, and aggregated KPIs.</a:t>
            </a:r>
          </a:p>
          <a:p>
            <a:r>
              <a:t>These features improved downstream analytics and insights.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IQR method was used for outlier treatment as it preserves distribution without removal.</a:t>
            </a:r>
          </a:p>
          <a:p>
            <a:r>
              <a:t>Median imputation was chosen due to skewness in pricing and unit sizes.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Bangalore's luxury market shows strong demand across micro-markets with balanced buyer segments.</a:t>
            </a:r>
          </a:p>
          <a:p>
            <a:r>
              <a:t>Developers differ by pricing, amenities, and sales channels, influencing booking outcomes.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Suggestions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Enhance amenities and connectivity to boost conversion.</a:t>
            </a:r>
          </a:p>
          <a:p>
            <a:r>
              <a:t>Optimize sales channels by micro-market buyer behavior insights.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Row Count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98449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3200" dirty="0"/>
              <a:t>Validates number of records loaded into SQL.</a:t>
            </a:r>
          </a:p>
        </p:txBody>
      </p:sp>
      <p:pic>
        <p:nvPicPr>
          <p:cNvPr id="4" name="Picture 3" descr="sql count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10" y="2433484"/>
            <a:ext cx="6163504" cy="37608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Status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0271" y="1371600"/>
            <a:ext cx="7384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Checks distribution of possession/booking status.</a:t>
            </a:r>
          </a:p>
        </p:txBody>
      </p:sp>
      <p:pic>
        <p:nvPicPr>
          <p:cNvPr id="4" name="Picture 3" descr="sql buildigs sats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491" y="2020527"/>
            <a:ext cx="5566991" cy="38296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Avg Ticket Price per Builder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3174" y="1417638"/>
            <a:ext cx="6946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Validates pricing performance across developers.</a:t>
            </a:r>
          </a:p>
        </p:txBody>
      </p:sp>
      <p:pic>
        <p:nvPicPr>
          <p:cNvPr id="4" name="Picture 3" descr="sql avg ticket 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477" y="2286000"/>
            <a:ext cx="5495499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Market Trends &amp; Builder Performance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263445"/>
            <a:ext cx="8229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Insight: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 Whitefield and Sarjapur show sustained demand while top builders capture higher</a:t>
            </a:r>
          </a:p>
          <a:p>
            <a:r>
              <a:rPr lang="en-US" i="1" dirty="0"/>
              <a:t>       ticket values.</a:t>
            </a:r>
          </a:p>
        </p:txBody>
      </p:sp>
      <p:pic>
        <p:nvPicPr>
          <p:cNvPr id="4" name="Picture 3" descr="Power bi pag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78" y="2406445"/>
            <a:ext cx="6695767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Amenities, Conversion &amp; Configuration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251655"/>
            <a:ext cx="80870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Insight: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Amenities positively influence booking conversion; 3BHK units remain most preferred.</a:t>
            </a:r>
          </a:p>
          <a:p>
            <a:endParaRPr dirty="0"/>
          </a:p>
        </p:txBody>
      </p:sp>
      <p:pic>
        <p:nvPicPr>
          <p:cNvPr id="4" name="Picture 3" descr="Power bi pag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77" y="2394655"/>
            <a:ext cx="666627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Sales Channel, Quarterly &amp; Possession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0378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Insight: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Direct sales outperform brokers; quarterly trends show spikes during Q3-Q4.</a:t>
            </a:r>
          </a:p>
        </p:txBody>
      </p:sp>
      <p:pic>
        <p:nvPicPr>
          <p:cNvPr id="4" name="Picture 3" descr="Power bi page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25" y="2514600"/>
            <a:ext cx="7138219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Geographical Insights &amp; Top Performers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9788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Insight: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Eastern Bangalore dominates luxury segment; top 5 builders contribute majority of revenue.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EA3F7A-ED71-732D-CFDB-237CEDB34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31" y="2514600"/>
            <a:ext cx="7816646" cy="38173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FCE26-F595-4683-6B98-8C6466A9C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94164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427</Words>
  <Application>Microsoft Office PowerPoint</Application>
  <PresentationFormat>On-screen Show (4:3)</PresentationFormat>
  <Paragraphs>54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Luxury Housing Market Analysis – Bangalore</vt:lpstr>
      <vt:lpstr>Domain Overview</vt:lpstr>
      <vt:lpstr>Project Introduction</vt:lpstr>
      <vt:lpstr>Project Objective</vt:lpstr>
      <vt:lpstr>ELT Approach</vt:lpstr>
      <vt:lpstr>Data Migration</vt:lpstr>
      <vt:lpstr>Exploratory Data Analysis (EDA)</vt:lpstr>
      <vt:lpstr>Feature Engineering</vt:lpstr>
      <vt:lpstr>Statistical Techniques</vt:lpstr>
      <vt:lpstr>Conclusion</vt:lpstr>
      <vt:lpstr>Business Suggestions</vt:lpstr>
      <vt:lpstr>Row Count Validation</vt:lpstr>
      <vt:lpstr>Booking Status Distribution</vt:lpstr>
      <vt:lpstr>Avg Ticket Price per Builder</vt:lpstr>
      <vt:lpstr>Market Trends &amp; Builder Performance</vt:lpstr>
      <vt:lpstr>Amenities, Conversion &amp; Configuration</vt:lpstr>
      <vt:lpstr>Sales Channel, Quarterly &amp; Possession</vt:lpstr>
      <vt:lpstr>Geographical Insights &amp; Top Performers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Kammila</dc:creator>
  <cp:keywords/>
  <dc:description>generated using python-pptx</dc:description>
  <cp:lastModifiedBy>Sai Kammila</cp:lastModifiedBy>
  <cp:revision>1</cp:revision>
  <dcterms:created xsi:type="dcterms:W3CDTF">2013-01-27T09:14:16Z</dcterms:created>
  <dcterms:modified xsi:type="dcterms:W3CDTF">2026-01-17T07:54:04Z</dcterms:modified>
  <cp:category/>
</cp:coreProperties>
</file>