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49C0D5-AEEA-40A9-B67D-E994D6D7EB49}" v="11" dt="2026-01-15T07:27:10.9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6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 Kammila" userId="5e3450e576ef3658" providerId="LiveId" clId="{D528A221-29E9-4B7D-83D4-BA9C48FA0630}"/>
    <pc:docChg chg="undo custSel addSld delSld modSld">
      <pc:chgData name="Sai Kammila" userId="5e3450e576ef3658" providerId="LiveId" clId="{D528A221-29E9-4B7D-83D4-BA9C48FA0630}" dt="2026-01-15T07:28:36.632" v="85" actId="1076"/>
      <pc:docMkLst>
        <pc:docMk/>
      </pc:docMkLst>
      <pc:sldChg chg="delSp del mod">
        <pc:chgData name="Sai Kammila" userId="5e3450e576ef3658" providerId="LiveId" clId="{D528A221-29E9-4B7D-83D4-BA9C48FA0630}" dt="2026-01-15T06:21:55.989" v="1" actId="47"/>
        <pc:sldMkLst>
          <pc:docMk/>
          <pc:sldMk cId="0" sldId="266"/>
        </pc:sldMkLst>
        <pc:spChg chg="del">
          <ac:chgData name="Sai Kammila" userId="5e3450e576ef3658" providerId="LiveId" clId="{D528A221-29E9-4B7D-83D4-BA9C48FA0630}" dt="2026-01-15T06:21:53.065" v="0" actId="478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Sai Kammila" userId="5e3450e576ef3658" providerId="LiveId" clId="{D528A221-29E9-4B7D-83D4-BA9C48FA0630}" dt="2026-01-15T07:27:28.713" v="71" actId="14100"/>
        <pc:sldMkLst>
          <pc:docMk/>
          <pc:sldMk cId="0" sldId="267"/>
        </pc:sldMkLst>
        <pc:picChg chg="mod">
          <ac:chgData name="Sai Kammila" userId="5e3450e576ef3658" providerId="LiveId" clId="{D528A221-29E9-4B7D-83D4-BA9C48FA0630}" dt="2026-01-15T07:27:28.713" v="71" actId="14100"/>
          <ac:picMkLst>
            <pc:docMk/>
            <pc:sldMk cId="0" sldId="267"/>
            <ac:picMk id="4" creationId="{00000000-0000-0000-0000-000000000000}"/>
          </ac:picMkLst>
        </pc:picChg>
      </pc:sldChg>
      <pc:sldChg chg="modSp mod">
        <pc:chgData name="Sai Kammila" userId="5e3450e576ef3658" providerId="LiveId" clId="{D528A221-29E9-4B7D-83D4-BA9C48FA0630}" dt="2026-01-15T07:27:59.651" v="77" actId="14100"/>
        <pc:sldMkLst>
          <pc:docMk/>
          <pc:sldMk cId="0" sldId="268"/>
        </pc:sldMkLst>
        <pc:spChg chg="mod">
          <ac:chgData name="Sai Kammila" userId="5e3450e576ef3658" providerId="LiveId" clId="{D528A221-29E9-4B7D-83D4-BA9C48FA0630}" dt="2026-01-15T07:27:59.651" v="77" actId="14100"/>
          <ac:spMkLst>
            <pc:docMk/>
            <pc:sldMk cId="0" sldId="268"/>
            <ac:spMk id="3" creationId="{00000000-0000-0000-0000-000000000000}"/>
          </ac:spMkLst>
        </pc:spChg>
        <pc:picChg chg="mod">
          <ac:chgData name="Sai Kammila" userId="5e3450e576ef3658" providerId="LiveId" clId="{D528A221-29E9-4B7D-83D4-BA9C48FA0630}" dt="2026-01-15T07:27:50.224" v="75" actId="1076"/>
          <ac:picMkLst>
            <pc:docMk/>
            <pc:sldMk cId="0" sldId="268"/>
            <ac:picMk id="4" creationId="{00000000-0000-0000-0000-000000000000}"/>
          </ac:picMkLst>
        </pc:picChg>
      </pc:sldChg>
      <pc:sldChg chg="modSp mod">
        <pc:chgData name="Sai Kammila" userId="5e3450e576ef3658" providerId="LiveId" clId="{D528A221-29E9-4B7D-83D4-BA9C48FA0630}" dt="2026-01-15T07:28:08.525" v="80" actId="14100"/>
        <pc:sldMkLst>
          <pc:docMk/>
          <pc:sldMk cId="0" sldId="269"/>
        </pc:sldMkLst>
        <pc:spChg chg="mod">
          <ac:chgData name="Sai Kammila" userId="5e3450e576ef3658" providerId="LiveId" clId="{D528A221-29E9-4B7D-83D4-BA9C48FA0630}" dt="2026-01-15T07:28:08.525" v="80" actId="14100"/>
          <ac:spMkLst>
            <pc:docMk/>
            <pc:sldMk cId="0" sldId="269"/>
            <ac:spMk id="3" creationId="{00000000-0000-0000-0000-000000000000}"/>
          </ac:spMkLst>
        </pc:spChg>
        <pc:picChg chg="mod">
          <ac:chgData name="Sai Kammila" userId="5e3450e576ef3658" providerId="LiveId" clId="{D528A221-29E9-4B7D-83D4-BA9C48FA0630}" dt="2026-01-15T07:28:03.537" v="78" actId="1076"/>
          <ac:picMkLst>
            <pc:docMk/>
            <pc:sldMk cId="0" sldId="269"/>
            <ac:picMk id="4" creationId="{00000000-0000-0000-0000-000000000000}"/>
          </ac:picMkLst>
        </pc:picChg>
      </pc:sldChg>
      <pc:sldChg chg="modSp mod">
        <pc:chgData name="Sai Kammila" userId="5e3450e576ef3658" providerId="LiveId" clId="{D528A221-29E9-4B7D-83D4-BA9C48FA0630}" dt="2026-01-15T06:23:02.905" v="13" actId="14100"/>
        <pc:sldMkLst>
          <pc:docMk/>
          <pc:sldMk cId="0" sldId="270"/>
        </pc:sldMkLst>
        <pc:spChg chg="mod">
          <ac:chgData name="Sai Kammila" userId="5e3450e576ef3658" providerId="LiveId" clId="{D528A221-29E9-4B7D-83D4-BA9C48FA0630}" dt="2026-01-15T06:22:01.842" v="3" actId="27636"/>
          <ac:spMkLst>
            <pc:docMk/>
            <pc:sldMk cId="0" sldId="270"/>
            <ac:spMk id="2" creationId="{00000000-0000-0000-0000-000000000000}"/>
          </ac:spMkLst>
        </pc:spChg>
        <pc:spChg chg="mod">
          <ac:chgData name="Sai Kammila" userId="5e3450e576ef3658" providerId="LiveId" clId="{D528A221-29E9-4B7D-83D4-BA9C48FA0630}" dt="2026-01-15T06:23:00.176" v="12" actId="14100"/>
          <ac:spMkLst>
            <pc:docMk/>
            <pc:sldMk cId="0" sldId="270"/>
            <ac:spMk id="3" creationId="{00000000-0000-0000-0000-000000000000}"/>
          </ac:spMkLst>
        </pc:spChg>
        <pc:picChg chg="mod">
          <ac:chgData name="Sai Kammila" userId="5e3450e576ef3658" providerId="LiveId" clId="{D528A221-29E9-4B7D-83D4-BA9C48FA0630}" dt="2026-01-15T06:23:02.905" v="13" actId="14100"/>
          <ac:picMkLst>
            <pc:docMk/>
            <pc:sldMk cId="0" sldId="270"/>
            <ac:picMk id="4" creationId="{00000000-0000-0000-0000-000000000000}"/>
          </ac:picMkLst>
        </pc:picChg>
      </pc:sldChg>
      <pc:sldChg chg="modSp mod">
        <pc:chgData name="Sai Kammila" userId="5e3450e576ef3658" providerId="LiveId" clId="{D528A221-29E9-4B7D-83D4-BA9C48FA0630}" dt="2026-01-15T06:24:39.016" v="27" actId="1076"/>
        <pc:sldMkLst>
          <pc:docMk/>
          <pc:sldMk cId="0" sldId="271"/>
        </pc:sldMkLst>
        <pc:spChg chg="mod">
          <ac:chgData name="Sai Kammila" userId="5e3450e576ef3658" providerId="LiveId" clId="{D528A221-29E9-4B7D-83D4-BA9C48FA0630}" dt="2026-01-15T06:23:25.709" v="15" actId="27636"/>
          <ac:spMkLst>
            <pc:docMk/>
            <pc:sldMk cId="0" sldId="271"/>
            <ac:spMk id="2" creationId="{00000000-0000-0000-0000-000000000000}"/>
          </ac:spMkLst>
        </pc:spChg>
        <pc:spChg chg="mod">
          <ac:chgData name="Sai Kammila" userId="5e3450e576ef3658" providerId="LiveId" clId="{D528A221-29E9-4B7D-83D4-BA9C48FA0630}" dt="2026-01-15T06:24:31.669" v="25" actId="20577"/>
          <ac:spMkLst>
            <pc:docMk/>
            <pc:sldMk cId="0" sldId="271"/>
            <ac:spMk id="3" creationId="{00000000-0000-0000-0000-000000000000}"/>
          </ac:spMkLst>
        </pc:spChg>
        <pc:picChg chg="mod">
          <ac:chgData name="Sai Kammila" userId="5e3450e576ef3658" providerId="LiveId" clId="{D528A221-29E9-4B7D-83D4-BA9C48FA0630}" dt="2026-01-15T06:24:39.016" v="27" actId="1076"/>
          <ac:picMkLst>
            <pc:docMk/>
            <pc:sldMk cId="0" sldId="271"/>
            <ac:picMk id="4" creationId="{00000000-0000-0000-0000-000000000000}"/>
          </ac:picMkLst>
        </pc:picChg>
      </pc:sldChg>
      <pc:sldChg chg="modSp mod">
        <pc:chgData name="Sai Kammila" userId="5e3450e576ef3658" providerId="LiveId" clId="{D528A221-29E9-4B7D-83D4-BA9C48FA0630}" dt="2026-01-15T06:25:44.920" v="36" actId="20577"/>
        <pc:sldMkLst>
          <pc:docMk/>
          <pc:sldMk cId="0" sldId="272"/>
        </pc:sldMkLst>
        <pc:spChg chg="mod">
          <ac:chgData name="Sai Kammila" userId="5e3450e576ef3658" providerId="LiveId" clId="{D528A221-29E9-4B7D-83D4-BA9C48FA0630}" dt="2026-01-15T06:24:53.590" v="29" actId="27636"/>
          <ac:spMkLst>
            <pc:docMk/>
            <pc:sldMk cId="0" sldId="272"/>
            <ac:spMk id="2" creationId="{00000000-0000-0000-0000-000000000000}"/>
          </ac:spMkLst>
        </pc:spChg>
        <pc:spChg chg="mod">
          <ac:chgData name="Sai Kammila" userId="5e3450e576ef3658" providerId="LiveId" clId="{D528A221-29E9-4B7D-83D4-BA9C48FA0630}" dt="2026-01-15T06:25:44.920" v="36" actId="20577"/>
          <ac:spMkLst>
            <pc:docMk/>
            <pc:sldMk cId="0" sldId="272"/>
            <ac:spMk id="3" creationId="{00000000-0000-0000-0000-000000000000}"/>
          </ac:spMkLst>
        </pc:spChg>
        <pc:picChg chg="mod">
          <ac:chgData name="Sai Kammila" userId="5e3450e576ef3658" providerId="LiveId" clId="{D528A221-29E9-4B7D-83D4-BA9C48FA0630}" dt="2026-01-15T06:25:14.741" v="34" actId="1076"/>
          <ac:picMkLst>
            <pc:docMk/>
            <pc:sldMk cId="0" sldId="272"/>
            <ac:picMk id="4" creationId="{00000000-0000-0000-0000-000000000000}"/>
          </ac:picMkLst>
        </pc:picChg>
      </pc:sldChg>
      <pc:sldChg chg="addSp delSp modSp mod">
        <pc:chgData name="Sai Kammila" userId="5e3450e576ef3658" providerId="LiveId" clId="{D528A221-29E9-4B7D-83D4-BA9C48FA0630}" dt="2026-01-15T07:26:22.311" v="57" actId="1076"/>
        <pc:sldMkLst>
          <pc:docMk/>
          <pc:sldMk cId="0" sldId="273"/>
        </pc:sldMkLst>
        <pc:spChg chg="mod">
          <ac:chgData name="Sai Kammila" userId="5e3450e576ef3658" providerId="LiveId" clId="{D528A221-29E9-4B7D-83D4-BA9C48FA0630}" dt="2026-01-15T07:25:09.287" v="40" actId="20577"/>
          <ac:spMkLst>
            <pc:docMk/>
            <pc:sldMk cId="0" sldId="273"/>
            <ac:spMk id="2" creationId="{00000000-0000-0000-0000-000000000000}"/>
          </ac:spMkLst>
        </pc:spChg>
        <pc:spChg chg="mod">
          <ac:chgData name="Sai Kammila" userId="5e3450e576ef3658" providerId="LiveId" clId="{D528A221-29E9-4B7D-83D4-BA9C48FA0630}" dt="2026-01-15T07:25:45.782" v="46" actId="20577"/>
          <ac:spMkLst>
            <pc:docMk/>
            <pc:sldMk cId="0" sldId="273"/>
            <ac:spMk id="3" creationId="{00000000-0000-0000-0000-000000000000}"/>
          </ac:spMkLst>
        </pc:spChg>
        <pc:picChg chg="del mod">
          <ac:chgData name="Sai Kammila" userId="5e3450e576ef3658" providerId="LiveId" clId="{D528A221-29E9-4B7D-83D4-BA9C48FA0630}" dt="2026-01-15T07:26:09.838" v="49" actId="478"/>
          <ac:picMkLst>
            <pc:docMk/>
            <pc:sldMk cId="0" sldId="273"/>
            <ac:picMk id="4" creationId="{00000000-0000-0000-0000-000000000000}"/>
          </ac:picMkLst>
        </pc:picChg>
        <pc:picChg chg="add mod">
          <ac:chgData name="Sai Kammila" userId="5e3450e576ef3658" providerId="LiveId" clId="{D528A221-29E9-4B7D-83D4-BA9C48FA0630}" dt="2026-01-15T07:26:22.311" v="57" actId="1076"/>
          <ac:picMkLst>
            <pc:docMk/>
            <pc:sldMk cId="0" sldId="273"/>
            <ac:picMk id="6" creationId="{0BEA3F7A-ED71-732D-CFDB-237CEDB34C70}"/>
          </ac:picMkLst>
        </pc:picChg>
      </pc:sldChg>
      <pc:sldChg chg="delSp modSp new mod">
        <pc:chgData name="Sai Kammila" userId="5e3450e576ef3658" providerId="LiveId" clId="{D528A221-29E9-4B7D-83D4-BA9C48FA0630}" dt="2026-01-15T07:28:36.632" v="85" actId="1076"/>
        <pc:sldMkLst>
          <pc:docMk/>
          <pc:sldMk cId="2994164592" sldId="274"/>
        </pc:sldMkLst>
        <pc:spChg chg="mod">
          <ac:chgData name="Sai Kammila" userId="5e3450e576ef3658" providerId="LiveId" clId="{D528A221-29E9-4B7D-83D4-BA9C48FA0630}" dt="2026-01-15T07:28:36.632" v="85" actId="1076"/>
          <ac:spMkLst>
            <pc:docMk/>
            <pc:sldMk cId="2994164592" sldId="274"/>
            <ac:spMk id="2" creationId="{E55FCE26-F595-4683-6B98-8C6466A9C3AD}"/>
          </ac:spMkLst>
        </pc:spChg>
        <pc:spChg chg="del mod">
          <ac:chgData name="Sai Kammila" userId="5e3450e576ef3658" providerId="LiveId" clId="{D528A221-29E9-4B7D-83D4-BA9C48FA0630}" dt="2026-01-15T07:28:31.455" v="84" actId="478"/>
          <ac:spMkLst>
            <pc:docMk/>
            <pc:sldMk cId="2994164592" sldId="274"/>
            <ac:spMk id="3" creationId="{1F236B78-1280-0888-FD59-7D6F3CCBDA2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Luxury real estate market focuses on high-end residential properties.</a:t>
            </a:r>
          </a:p>
          <a:p>
            <a:r>
              <a:t>It involves analysis of buyer behavior, pricing, and geographic demand.</a:t>
            </a:r>
          </a:p>
          <a:p>
            <a:r>
              <a:t>Market intelligence helps developers optimize strategy and sales.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project analyzes luxury housing data for Bangalore.</a:t>
            </a:r>
          </a:p>
          <a:p>
            <a:r>
              <a:t>It provides insights using Python, SQL, and Power BI.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 clean, transform, and analyze sales data for decision-making.</a:t>
            </a:r>
          </a:p>
          <a:p>
            <a:r>
              <a:t>To identify market trends, buyer patterns, and developer performance.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 data was extracted from CSV, loaded into Python for transformation,</a:t>
            </a:r>
          </a:p>
          <a:p>
            <a:r>
              <a:t>and loaded into MySQL for validation and downstream analytics.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Cleaned data was transferred from processing layer into SQL tables.</a:t>
            </a:r>
          </a:p>
          <a:p>
            <a:r>
              <a:t>SQL enabled structured querying and validation before Power BI consumption.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Data Analysis (EDA)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EDA revealed pricing ranges, buyer types, conversion rates, and micro-market trends.</a:t>
            </a:r>
          </a:p>
          <a:p>
            <a:r>
              <a:t>It also highlighted data gaps, outliers, and variable relationships.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Derived booking conversion rates, total ticket value, and aggregated KPIs.</a:t>
            </a:r>
          </a:p>
          <a:p>
            <a:r>
              <a:t>These features improved downstream analytics and insights.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Statistical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IQR method was used for outlier treatment as it preserves distribution without removal.</a:t>
            </a:r>
          </a:p>
          <a:p>
            <a:r>
              <a:t>Median imputation was chosen due to skewness in pricing and unit sizes.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Bangalore's luxury market shows strong demand across micro-markets with balanced buyer segments.</a:t>
            </a:r>
          </a:p>
          <a:p>
            <a:r>
              <a:t>Developers differ by pricing, amenities, and sales channels, influencing booking outcomes.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Suggestions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Enhance amenities and connectivity to boost conversion.</a:t>
            </a:r>
          </a:p>
          <a:p>
            <a:r>
              <a:t>Optimize sales channels by micro-market buyer behavior insights.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Row Count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Validates number of records loaded into SQL.</a:t>
            </a:r>
          </a:p>
        </p:txBody>
      </p:sp>
      <p:pic>
        <p:nvPicPr>
          <p:cNvPr id="4" name="Picture 3" descr="sql count 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813" y="2197510"/>
            <a:ext cx="5444428" cy="37608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Booking Status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8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Checks distribution of possession/booking status.</a:t>
            </a:r>
          </a:p>
        </p:txBody>
      </p:sp>
      <p:pic>
        <p:nvPicPr>
          <p:cNvPr id="4" name="Picture 3" descr="sql buildigs sats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149" y="2197508"/>
            <a:ext cx="5566991" cy="382966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Avg Ticket Price per Builder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6297" y="1371600"/>
            <a:ext cx="694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Validates pricing performance across developers.</a:t>
            </a:r>
          </a:p>
        </p:txBody>
      </p:sp>
      <p:pic>
        <p:nvPicPr>
          <p:cNvPr id="4" name="Picture 3" descr="sql avg ticket 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477" y="2286000"/>
            <a:ext cx="549549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Market Trends &amp; Builder Performance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263445"/>
            <a:ext cx="8229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Insight:</a:t>
            </a:r>
          </a:p>
          <a:p>
            <a:r>
              <a:rPr lang="en-US" i="1" dirty="0"/>
              <a:t> Whitefield and Sarjapur show sustained demand while top builders capture higher</a:t>
            </a:r>
          </a:p>
          <a:p>
            <a:r>
              <a:rPr lang="en-US" i="1" dirty="0"/>
              <a:t> ticket values.</a:t>
            </a:r>
          </a:p>
        </p:txBody>
      </p:sp>
      <p:pic>
        <p:nvPicPr>
          <p:cNvPr id="4" name="Picture 3" descr="Power bi page 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878" y="2406445"/>
            <a:ext cx="6695767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Amenities, Conversion &amp; Configuration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251655"/>
            <a:ext cx="80870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Insight: </a:t>
            </a:r>
          </a:p>
          <a:p>
            <a:r>
              <a:rPr lang="en-US" i="1" dirty="0"/>
              <a:t>Amenities positively influence booking conversion; 3BHK units remain most preferred.</a:t>
            </a:r>
          </a:p>
          <a:p>
            <a:endParaRPr dirty="0"/>
          </a:p>
        </p:txBody>
      </p:sp>
      <p:pic>
        <p:nvPicPr>
          <p:cNvPr id="4" name="Picture 3" descr="Power bi pag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877" y="2394655"/>
            <a:ext cx="666627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Sales Channel, Quarterly &amp; Possession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0378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Insight: </a:t>
            </a:r>
          </a:p>
          <a:p>
            <a:r>
              <a:rPr lang="en-US" i="1" dirty="0"/>
              <a:t>Direct sales outperform brokers; quarterly trends show spikes during Q3-Q4.</a:t>
            </a:r>
          </a:p>
        </p:txBody>
      </p:sp>
      <p:pic>
        <p:nvPicPr>
          <p:cNvPr id="4" name="Picture 3" descr="Power bi page 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25" y="2514600"/>
            <a:ext cx="713821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Geographical Insights &amp; Top Performers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978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Insight:</a:t>
            </a:r>
          </a:p>
          <a:p>
            <a:r>
              <a:rPr lang="en-US" i="1" dirty="0"/>
              <a:t>Eastern Bangalore dominates luxury segment; top 5 builders contribute majority of revenue.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EA3F7A-ED71-732D-CFDB-237CEDB34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1" y="2514600"/>
            <a:ext cx="7816646" cy="381737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FCE26-F595-4683-6B98-8C6466A9C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693987"/>
            <a:ext cx="7772400" cy="147002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994164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383</Words>
  <Application>Microsoft Office PowerPoint</Application>
  <PresentationFormat>On-screen Show (4:3)</PresentationFormat>
  <Paragraphs>51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Domain Overview</vt:lpstr>
      <vt:lpstr>Project Introduction</vt:lpstr>
      <vt:lpstr>Project Objective</vt:lpstr>
      <vt:lpstr>ELT Approach</vt:lpstr>
      <vt:lpstr>Data Migration</vt:lpstr>
      <vt:lpstr>Exploratory Data Analysis (EDA)</vt:lpstr>
      <vt:lpstr>Feature Engineering</vt:lpstr>
      <vt:lpstr>Statistical Techniques</vt:lpstr>
      <vt:lpstr>Conclusion</vt:lpstr>
      <vt:lpstr>Business Suggestions</vt:lpstr>
      <vt:lpstr>Row Count Validation</vt:lpstr>
      <vt:lpstr>Booking Status Distribution</vt:lpstr>
      <vt:lpstr>Avg Ticket Price per Builder</vt:lpstr>
      <vt:lpstr>Market Trends &amp; Builder Performance</vt:lpstr>
      <vt:lpstr>Amenities, Conversion &amp; Configuration</vt:lpstr>
      <vt:lpstr>Sales Channel, Quarterly &amp; Possession</vt:lpstr>
      <vt:lpstr>Geographical Insights &amp; Top Performers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Sai Kammila</dc:creator>
  <cp:keywords/>
  <dc:description>generated using python-pptx</dc:description>
  <cp:lastModifiedBy>Sai Kammila</cp:lastModifiedBy>
  <cp:revision>1</cp:revision>
  <dcterms:created xsi:type="dcterms:W3CDTF">2013-01-27T09:14:16Z</dcterms:created>
  <dcterms:modified xsi:type="dcterms:W3CDTF">2026-01-15T07:28:45Z</dcterms:modified>
  <cp:category/>
</cp:coreProperties>
</file>